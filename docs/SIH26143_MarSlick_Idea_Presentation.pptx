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66B2"/>
                </a:solidFill>
                <a:latin typeface="Liberation Sans"/>
              </a:defRPr>
            </a:pPr>
            <a:r>
              <a:t>SMART INDIA HACKATHON 2026</a:t>
            </a:r>
          </a:p>
        </p:txBody>
      </p:sp>
      <p:pic>
        <p:nvPicPr>
          <p:cNvPr id="3" name="Picture 2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320040"/>
            <a:ext cx="2194560" cy="777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371600"/>
            <a:ext cx="67665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640080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SIH 2026 OFFICIAL IDEA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6400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Problem Statement ID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26143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Problem Statement Title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Leveraging satellite imagery to determine Oil spills at sea along with AIS data correlations to identify vessel responsible for the spill.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Theme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Disaster Management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PS Category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Team Name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MarSlick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1E293B"/>
                </a:solidFill>
                <a:latin typeface="Liberation Sans"/>
              </a:rPr>
              <a:t>• Idea Title – </a:t>
            </a:r>
            <a:r>
              <a:rPr sz="1300">
                <a:solidFill>
                  <a:srgbClr val="0F172A"/>
                </a:solidFill>
                <a:latin typeface="Liberation Sans"/>
              </a:rPr>
              <a:t>MAR-SLICK: Autonomous Satellite Oil Spill Detection &amp; AIS Vessel Attribution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8404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1508760"/>
            <a:ext cx="347472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OPERATIONAL &amp; DOMAIN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01168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0066B2"/>
                </a:solidFill>
                <a:latin typeface="Liberation Sans"/>
              </a:rPr>
              <a:t>• Primary Beneficiary:
</a:t>
            </a:r>
            <a:r>
              <a:rPr sz="1100">
                <a:solidFill>
                  <a:srgbClr val="475569"/>
                </a:solidFill>
                <a:latin typeface="Liberation Sans"/>
              </a:rPr>
              <a:t>Indian Coast Guard (ICG) Maritime Rescue Coordination Centres (MRCC) &amp; DG Shipping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6B2"/>
                </a:solidFill>
                <a:latin typeface="Liberation Sans"/>
              </a:rPr>
              <a:t>• Surveillance Scope:
</a:t>
            </a:r>
            <a:r>
              <a:rPr sz="1100">
                <a:solidFill>
                  <a:srgbClr val="475569"/>
                </a:solidFill>
                <a:latin typeface="Liberation Sans"/>
              </a:rPr>
              <a:t>Indian EEZ (2.37 Million km²), Mumbai High, Gulf of Kutch, Bay of Bengal tanker corridors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6B2"/>
                </a:solidFill>
                <a:latin typeface="Liberation Sans"/>
              </a:rPr>
              <a:t>• Satellite Inputs:
</a:t>
            </a:r>
            <a:r>
              <a:rPr sz="1100">
                <a:solidFill>
                  <a:srgbClr val="475569"/>
                </a:solidFill>
                <a:latin typeface="Liberation Sans"/>
              </a:rPr>
              <a:t>ESA Copernicus Sentinel-1 C-Band SAR (10m GRD), Sentinel-2 MSI Multi-Spectral Optical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6B2"/>
                </a:solidFill>
                <a:latin typeface="Liberation Sans"/>
              </a:rPr>
              <a:t>• Telemetry Data:
</a:t>
            </a:r>
            <a:r>
              <a:rPr sz="1100">
                <a:solidFill>
                  <a:srgbClr val="475569"/>
                </a:solidFill>
                <a:latin typeface="Liberation Sans"/>
              </a:rPr>
              <a:t>ITU-R M.1371 Class-A AIS streams &amp; MarineCadastre vessel archives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066B2"/>
                </a:solidFill>
                <a:latin typeface="Liberation Sans"/>
              </a:rPr>
              <a:t>• System Readiness:
</a:t>
            </a:r>
            <a:r>
              <a:rPr sz="1100">
                <a:solidFill>
                  <a:srgbClr val="475569"/>
                </a:solidFill>
                <a:latin typeface="Liberation Sans"/>
              </a:rPr>
              <a:t>TRL-4 Working Prototype with 13/13 passing automated unit &amp; integration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MarSlick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u="sng">
                <a:solidFill>
                  <a:srgbClr val="0F172A"/>
                </a:solidFill>
                <a:latin typeface="Liberation Sans"/>
              </a:defRPr>
            </a:pPr>
            <a:r>
              <a:t>MAR-SLICK: AUTOMATED OIL SPILL ATTRIBUTION</a:t>
            </a:r>
          </a:p>
        </p:txBody>
      </p:sp>
      <p:pic>
        <p:nvPicPr>
          <p:cNvPr id="4" name="Picture 3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8600"/>
            <a:ext cx="2194560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07592"/>
            <a:ext cx="3474720" cy="4983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3474720" cy="4983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371600"/>
            <a:ext cx="320040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Detailed Explanation of the</a:t>
            </a:r>
            <a:br/>
            <a: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2004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Dual-Sensor Remote Sensing: </a:t>
            </a:r>
            <a:r>
              <a:rPr sz="1000">
                <a:solidFill>
                  <a:srgbClr val="475569"/>
                </a:solidFill>
                <a:latin typeface="Liberation Sans"/>
              </a:rPr>
              <a:t>Ingests Sentinel-1 C-band SAR and optical imagery to detect dark oil slicks via radar backscatter damping.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Overlapping U-Net Tiling: </a:t>
            </a:r>
            <a:r>
              <a:rPr sz="1000">
                <a:solidFill>
                  <a:srgbClr val="475569"/>
                </a:solidFill>
                <a:latin typeface="Liberation Sans"/>
              </a:rPr>
              <a:t>Splits large SAR scenes into 256x256 tiles with 32px overlap, stitching confidence masks without tile border seams.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Lagrangian Drift Hindcast: </a:t>
            </a:r>
            <a:r>
              <a:rPr sz="1000">
                <a:solidFill>
                  <a:srgbClr val="475569"/>
                </a:solidFill>
                <a:latin typeface="Liberation Sans"/>
              </a:rPr>
              <a:t>Simulates backward-in-time drift using ocean surface currents and a 3% wind factor to pinpoint release origin.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Vectorized AIS Query: </a:t>
            </a:r>
            <a:r>
              <a:rPr sz="1000">
                <a:solidFill>
                  <a:srgbClr val="475569"/>
                </a:solidFill>
                <a:latin typeface="Liberation Sans"/>
              </a:rPr>
              <a:t>Screens vessel traffic in a 50 km / 48 hr spatio-temporal cylinder of the origin in under 100 milliseconds.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Forensic Suspect Scoring: </a:t>
            </a:r>
            <a:r>
              <a:rPr sz="1000">
                <a:solidFill>
                  <a:srgbClr val="475569"/>
                </a:solidFill>
                <a:latin typeface="Liberation Sans"/>
              </a:rPr>
              <a:t>Ranks suspect vessels combining spatial proximity, temporal delta, and navigational anomaly heuristics.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307592"/>
            <a:ext cx="3474720" cy="4983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234440"/>
            <a:ext cx="3474720" cy="4983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371600"/>
            <a:ext cx="3200400" cy="7772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How It Addresses</a:t>
            </a:r>
            <a:br/>
            <a:r>
              <a:t>the Problem?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2004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Solves Attribution Gap: </a:t>
            </a:r>
            <a:r>
              <a:rPr sz="1000">
                <a:solidFill>
                  <a:srgbClr val="475569"/>
                </a:solidFill>
                <a:latin typeface="Liberation Sans"/>
              </a:rPr>
              <a:t>Bridges the historical gap between detecting an oil slick and identifying the culprit vessel responsible for illicit dumping.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Eliminates Manual Delays: </a:t>
            </a:r>
            <a:r>
              <a:rPr sz="1000">
                <a:solidFill>
                  <a:srgbClr val="475569"/>
                </a:solidFill>
                <a:latin typeface="Liberation Sans"/>
              </a:rPr>
              <a:t>Replaces slow 48-72h manual GIS plotting with a sub-60-second automated forensic intelligence pipeline.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Corrects for Ocean Drift: </a:t>
            </a:r>
            <a:r>
              <a:rPr sz="1000">
                <a:solidFill>
                  <a:srgbClr val="475569"/>
                </a:solidFill>
                <a:latin typeface="Liberation Sans"/>
              </a:rPr>
              <a:t>Accounts for wind and surface current displacement so ships are matched to release coordinates, not drifted positions.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Unmasks Dark Vessels: </a:t>
            </a:r>
            <a:r>
              <a:rPr sz="1000">
                <a:solidFill>
                  <a:srgbClr val="475569"/>
                </a:solidFill>
                <a:latin typeface="Liberation Sans"/>
              </a:rPr>
              <a:t>Detects transponder shutoffs, loitering, and sudden speed drops used by polluters to obscure illicit discharge.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Court-Admissible Dossier: </a:t>
            </a:r>
            <a:r>
              <a:rPr sz="1000">
                <a:solidFill>
                  <a:srgbClr val="475569"/>
                </a:solidFill>
                <a:latin typeface="Liberation Sans"/>
              </a:rPr>
              <a:t>Synthesizes GeoJSON polygons, drift tracks, and ranked MMSI profiles into evidence-grade reports for enforcement.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1307592"/>
            <a:ext cx="3474720" cy="498348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234440"/>
            <a:ext cx="3474720" cy="4983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371600"/>
            <a:ext cx="3200400" cy="7772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Innovation and</a:t>
            </a:r>
            <a:br/>
            <a:r>
              <a:t>Uniqueness of 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2004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Multi-Modal Closed Loop: </a:t>
            </a:r>
            <a:r>
              <a:rPr sz="1000">
                <a:solidFill>
                  <a:srgbClr val="475569"/>
                </a:solidFill>
                <a:latin typeface="Liberation Sans"/>
              </a:rPr>
              <a:t>Seamlessly unifies SAR radar imagery, real-time hydrodynamic ocean models, and global AIS telemetry.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Sub-100ms Vectorization: </a:t>
            </a:r>
            <a:r>
              <a:rPr sz="1000">
                <a:solidFill>
                  <a:srgbClr val="475569"/>
                </a:solidFill>
                <a:latin typeface="Liberation Sans"/>
              </a:rPr>
              <a:t>Replaces heavy spatial database joins with vectorized NumPy math, screening 10,000+ vessel pings in milliseconds.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Dynamic Met-Ocean Caching: </a:t>
            </a:r>
            <a:r>
              <a:rPr sz="1000">
                <a:solidFill>
                  <a:srgbClr val="475569"/>
                </a:solidFill>
                <a:latin typeface="Liberation Sans"/>
              </a:rPr>
              <a:t>Live environmental data queries (Open-Meteo &amp; CMEMS) with automated Redis caching and uncertainty cones.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Multi-Layer Safeguard Gates: </a:t>
            </a:r>
            <a:r>
              <a:rPr sz="1000">
                <a:solidFill>
                  <a:srgbClr val="475569"/>
                </a:solidFill>
                <a:latin typeface="Liberation Sans"/>
              </a:rPr>
              <a:t>Out-of-Domain gate rejects optical non-SAR photos and Georeference gate enforces spatial anchoring.</a:t>
            </a:r>
          </a:p>
          <a:p>
            <a:pPr>
              <a:spcAft>
                <a:spcPts val="7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Self-Contained Deployment: </a:t>
            </a:r>
            <a:r>
              <a:rPr sz="1000">
                <a:solidFill>
                  <a:srgbClr val="475569"/>
                </a:solidFill>
                <a:latin typeface="Liberation Sans"/>
              </a:rPr>
              <a:t>Fully containerized architecture capable of air-gapped operation in coastal maritime rescue coordination centers.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MarSlick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TECHNICAL APPROACH</a:t>
            </a:r>
          </a:p>
        </p:txBody>
      </p:sp>
      <p:pic>
        <p:nvPicPr>
          <p:cNvPr id="4" name="Picture 3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8600"/>
            <a:ext cx="2194560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pic>
        <p:nvPicPr>
          <p:cNvPr id="8" name="Picture 7" descr="architecture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4983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234440"/>
            <a:ext cx="603504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5000" y="1371600"/>
            <a:ext cx="5760720" cy="41148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Liberation Sans"/>
              </a:defRPr>
            </a:pPr>
            <a:r>
              <a:t>ARCHITECTURE &amp; CORE SUBSYSTEMS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828800"/>
            <a:ext cx="56692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SAR Vision Subsystem: </a:t>
            </a:r>
            <a:r>
              <a:rPr sz="1000">
                <a:solidFill>
                  <a:srgbClr val="475569"/>
                </a:solidFill>
                <a:latin typeface="Liberation Sans"/>
              </a:rPr>
              <a:t>4-stage U-Net CNN (31M params), 256x256 sliding tiles with 32px overlap, OpenCV contour-to-GeoJSON extraction.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Ocean Advection Subsystem: </a:t>
            </a:r>
            <a:r>
              <a:rPr sz="1000">
                <a:solidFill>
                  <a:srgbClr val="475569"/>
                </a:solidFill>
                <a:latin typeface="Liberation Sans"/>
              </a:rPr>
              <a:t>Lagrangian backward trajectory advection: V_drift = V_current + 0.03*V_wind with expanding uncertainty envelope.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AIS Correlation Subsystem: </a:t>
            </a:r>
            <a:r>
              <a:rPr sz="1000">
                <a:solidFill>
                  <a:srgbClr val="475569"/>
                </a:solidFill>
                <a:latin typeface="Liberation Sans"/>
              </a:rPr>
              <a:t>MarineCadastre CSV streaming parser, vectorized Haversine proximity screening, and kinematic anomaly detection (gaps, speed drops).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1E293B"/>
                </a:solidFill>
                <a:latin typeface="Liberation Sans"/>
              </a:rPr>
              <a:t>• Command Console &amp; APIs: </a:t>
            </a:r>
            <a:r>
              <a:rPr sz="1000">
                <a:solidFill>
                  <a:srgbClr val="475569"/>
                </a:solidFill>
                <a:latin typeface="Liberation Sans"/>
              </a:rPr>
              <a:t>Django REST Framework, Celery asynchronous queue orchestrator, Leaflet.js mapping, and OpenAPI 3.0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4389120"/>
            <a:ext cx="603504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15000" y="4480560"/>
            <a:ext cx="57607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Liberation Sans"/>
              </a:defRPr>
            </a:pPr>
            <a:r>
              <a:t>TECHNOLOGY STACK SPECIFICATIONS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4846320"/>
            <a:ext cx="5669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Deep Learning &amp; Vision: </a:t>
            </a:r>
            <a:r>
              <a:rPr sz="950">
                <a:solidFill>
                  <a:srgbClr val="475569"/>
                </a:solidFill>
                <a:latin typeface="Liberation Sans"/>
              </a:rPr>
              <a:t>PyTorch 2.0+, Torchvision, OpenCV, Albumentations, CUDA acceleration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Backend &amp; Task Queue: </a:t>
            </a:r>
            <a:r>
              <a:rPr sz="950">
                <a:solidFill>
                  <a:srgbClr val="475569"/>
                </a:solidFill>
                <a:latin typeface="Liberation Sans"/>
              </a:rPr>
              <a:t>Python 3.12, Django 5.x, Django REST Framework, Celery 5.x, Redis 7.x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Hydrodynamics &amp; Math: </a:t>
            </a:r>
            <a:r>
              <a:rPr sz="950">
                <a:solidFill>
                  <a:srgbClr val="475569"/>
                </a:solidFill>
                <a:latin typeface="Liberation Sans"/>
              </a:rPr>
              <a:t>Lagrangian Particle Engine, Open-Meteo Marine API, Copernicus CMEMS, NumPy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Geospatial &amp; Telemetry: </a:t>
            </a:r>
            <a:r>
              <a:rPr sz="950">
                <a:solidFill>
                  <a:srgbClr val="475569"/>
                </a:solidFill>
                <a:latin typeface="Liberation Sans"/>
              </a:rPr>
              <a:t>Leaflet.js, PostGIS / SpatiaLite, Shapely, MarineCadastre AIS, NMEA 0183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MarSlick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FEASIBILITY AND VIABILITY</a:t>
            </a:r>
          </a:p>
        </p:txBody>
      </p:sp>
      <p:pic>
        <p:nvPicPr>
          <p:cNvPr id="4" name="Picture 3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8600"/>
            <a:ext cx="2194560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289304"/>
            <a:ext cx="6949440" cy="1508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34440"/>
            <a:ext cx="69494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344168"/>
            <a:ext cx="411480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Liberation Sans"/>
              </a:defRPr>
            </a:pPr>
            <a:r>
              <a:t>ANALYSIS OF THE FEASIBILITY OF 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6583680" cy="10058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Technical Feasibility: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Proven U-Net segmentation achieving &lt;2s per tile; vectorized advection and scoring running in &lt;100ms. 13/13 passing automated tests.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Operational Feasibility: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Direct ingestion of standard maritime telemetry (NMEA 0183 / MarineCadastre AIS) without requiring vessel transponder modifications.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Economic Viability: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Built on open-source frameworks and public European Space Agency Sentinel-1 satellite feeds, eliminating enterprise licensing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3026664"/>
            <a:ext cx="6949440" cy="1508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971800"/>
            <a:ext cx="69494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5800" y="3081528"/>
            <a:ext cx="4114800" cy="32004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Liberation Sans"/>
              </a:defRPr>
            </a:pPr>
            <a:r>
              <a:t>POTENTIAL CHALLENGES AND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6583680" cy="10058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Look-Alike False Positives: </a:t>
            </a:r>
            <a:r>
              <a:rPr sz="950">
                <a:solidFill>
                  <a:srgbClr val="475569"/>
                </a:solidFill>
                <a:latin typeface="Liberation Sans"/>
              </a:rPr>
              <a:t>Natural biogenic slicks, low-wind calm ocean surfaces (&lt;3 m/s), and algal blooms mimicking radar backscatter damping in SAR.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Met-Ocean Grid Resolution: </a:t>
            </a:r>
            <a:r>
              <a:rPr sz="950">
                <a:solidFill>
                  <a:srgbClr val="475569"/>
                </a:solidFill>
                <a:latin typeface="Liberation Sans"/>
              </a:rPr>
              <a:t>Gaps or coarse spatial resolution in real-time ocean current models near complex coastlines and shallow archipelagos.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Dark Vessels &amp; AIS Blackouts: </a:t>
            </a:r>
            <a:r>
              <a:rPr sz="950">
                <a:solidFill>
                  <a:srgbClr val="475569"/>
                </a:solidFill>
                <a:latin typeface="Liberation Sans"/>
              </a:rPr>
              <a:t>Deliberate transponder shutdown or spoofed MMSI identity during illegal night-time bilge discharges.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764024"/>
            <a:ext cx="6949440" cy="150876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6949440" cy="1508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4818888"/>
            <a:ext cx="4114800" cy="320040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Liberation Sans"/>
              </a:defRPr>
            </a:pPr>
            <a:r>
              <a:t>STRATEGIES TO OVERCOME CHALLENGES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48072"/>
            <a:ext cx="6583680" cy="10058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Multi-Feature SAR Rejection: </a:t>
            </a:r>
            <a:r>
              <a:rPr sz="950">
                <a:solidFill>
                  <a:srgbClr val="475569"/>
                </a:solidFill>
                <a:latin typeface="Liberation Sans"/>
              </a:rPr>
              <a:t>Texture analysis (GLCM), backscatter ratio profiling, and wind-speed threshold gating (&gt;3 m/s) to reject look-alikes.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Dynamic Environmental Blending: </a:t>
            </a:r>
            <a:r>
              <a:rPr sz="950">
                <a:solidFill>
                  <a:srgbClr val="475569"/>
                </a:solidFill>
                <a:latin typeface="Liberation Sans"/>
              </a:rPr>
              <a:t>Hierarchical fallback between coastal HF-radar, Open-Meteo, and Copernicus CMEMS global currents with uncertainty cones.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Kinematic Gap &amp; Anomaly Scoring: </a:t>
            </a:r>
            <a:r>
              <a:rPr sz="950">
                <a:solidFill>
                  <a:srgbClr val="475569"/>
                </a:solidFill>
                <a:latin typeface="Liberation Sans"/>
              </a:rPr>
              <a:t>Automated detection of AIS blackout gaps, sudden speed drops, and track extrapolation to unmask non-broadcasting vessels.</a:t>
            </a:r>
          </a:p>
        </p:txBody>
      </p:sp>
      <p:pic>
        <p:nvPicPr>
          <p:cNvPr id="20" name="Picture 19" descr="viability_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234440"/>
            <a:ext cx="38404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MarSlick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IMPACT AND BENEFITS</a:t>
            </a:r>
          </a:p>
        </p:txBody>
      </p:sp>
      <p:pic>
        <p:nvPicPr>
          <p:cNvPr id="4" name="Picture 3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8600"/>
            <a:ext cx="2194560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51206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926080" cy="347472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Liberation Sans"/>
              </a:defRPr>
            </a:pPr>
            <a:r>
              <a:t>OPERATIONAL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85% Latency Reduction: </a:t>
            </a:r>
            <a:r>
              <a:rPr sz="950">
                <a:solidFill>
                  <a:srgbClr val="475569"/>
                </a:solidFill>
                <a:latin typeface="Liberation Sans"/>
              </a:rPr>
              <a:t>Slashes spill origin attribution from 48-72 hours manual plotting to &lt;60s automated pipeline.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Evidentiary Traceability: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Generates legally defensible dossiers linking IMO/MMSI numbers with spatio-temporal overlap.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Persistent EEZ Surveillance: </a:t>
            </a:r>
            <a:r>
              <a:rPr sz="950">
                <a:solidFill>
                  <a:srgbClr val="475569"/>
                </a:solidFill>
                <a:latin typeface="Liberation Sans"/>
              </a:rPr>
              <a:t>Expands autonomous maritime domain awareness across India's 2.37 million km² coastal EEZ.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Deterrence Against Dumping: </a:t>
            </a:r>
            <a:r>
              <a:rPr sz="950">
                <a:solidFill>
                  <a:srgbClr val="475569"/>
                </a:solidFill>
                <a:latin typeface="Liberation Sans"/>
              </a:rPr>
              <a:t>High attribution probability actively deters commercial ships from nocturnal bilge washing.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5120640" cy="2377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2926080" cy="3474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Liberation Sans"/>
              </a:defRPr>
            </a:pPr>
            <a:r>
              <a:t>ENVIRONMENTAL &amp; ECONOMIC BENEFITS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Ecosystem Preservation: </a:t>
            </a:r>
            <a:r>
              <a:rPr sz="950">
                <a:solidFill>
                  <a:srgbClr val="475569"/>
                </a:solidFill>
                <a:latin typeface="Liberation Sans"/>
              </a:rPr>
              <a:t>Protects sensitive mangroves, coral reefs, and fisheries from toxic hydrocarbon contamination.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Cost Recovery Enforcement: </a:t>
            </a:r>
            <a:r>
              <a:rPr sz="950">
                <a:solidFill>
                  <a:srgbClr val="475569"/>
                </a:solidFill>
                <a:latin typeface="Liberation Sans"/>
              </a:rPr>
              <a:t>Enables port authorities and Coast Guard to recover million-dollar cleanup costs under Polluter Pays.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Inter-Agency Compatibility: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Standard GeoJSON and RESTful APIs integrate with Indian Coast Guard (ICG) MRCC systems.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1E293B"/>
                </a:solidFill>
                <a:latin typeface="Liberation Sans"/>
              </a:rPr>
              <a:t>• Operational Scalability: </a:t>
            </a:r>
            <a:r>
              <a:rPr sz="950">
                <a:solidFill>
                  <a:srgbClr val="475569"/>
                </a:solidFill>
                <a:latin typeface="Liberation Sans"/>
              </a:rPr>
              <a:t>Asynchronous multi-queue processing handles nationwide satellite passes without extra personnel.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34440"/>
            <a:ext cx="36576" cy="49377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234440"/>
            <a:ext cx="539496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5029200" cy="4114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Liberation Sans"/>
              </a:defRPr>
            </a:pPr>
            <a:r>
              <a:t>OPERATIONAL USER SCENARIO (INDIAN MARITIME DOMAIN)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1">
                <a:solidFill>
                  <a:srgbClr val="0066B2"/>
                </a:solidFill>
                <a:latin typeface="Liberation Sans"/>
              </a:rPr>
              <a:t>Target User &amp; Deployment Environment
</a:t>
            </a:r>
            <a:r>
              <a:rPr sz="950">
                <a:solidFill>
                  <a:srgbClr val="1E293B"/>
                </a:solidFill>
                <a:latin typeface="Liberation Sans"/>
              </a:rPr>
              <a:t>Indian Coast Guard Maritime Rescue Coordination Centre (MRCC) &amp; Directorate General of Shipping operating in national coastal surveillance.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066B2"/>
                </a:solidFill>
                <a:latin typeface="Liberation Sans"/>
              </a:rPr>
              <a:t>Surveillance Incident
</a:t>
            </a:r>
            <a:r>
              <a:rPr sz="950">
                <a:solidFill>
                  <a:srgbClr val="1E293B"/>
                </a:solidFill>
                <a:latin typeface="Liberation Sans"/>
              </a:rPr>
              <a:t>A Sentinel-1 SAR acquisition over the Arabian Sea tanker corridor (Bombay High offshore zone) detects a 4.2 km² dark oil slick.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066B2"/>
                </a:solidFill>
                <a:latin typeface="Liberation Sans"/>
              </a:rPr>
              <a:t>Autonomous Attribution Workflow
</a:t>
            </a:r>
            <a:r>
              <a:rPr sz="950">
                <a:solidFill>
                  <a:srgbClr val="1E293B"/>
                </a:solidFill>
                <a:latin typeface="Liberation Sans"/>
              </a:rPr>
              <a:t>1. U-Net extracts slick polygon boundary and computes centroid (19.42°N, 71.85°E).
2. Lagrangian hindcast steps 16 hours backward against current and wind, locating origin 18.4 nm upstream.
3. Vectorized AIS engine screens 34 commercial vessels in the spatio-temporal corridor.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066B2"/>
                </a:solidFill>
                <a:latin typeface="Liberation Sans"/>
              </a:rPr>
              <a:t>Forensic Finding
</a:t>
            </a:r>
            <a:r>
              <a:rPr sz="950">
                <a:solidFill>
                  <a:srgbClr val="1E293B"/>
                </a:solidFill>
                <a:latin typeface="Liberation Sans"/>
              </a:rPr>
              <a:t>Flags Crude Carrier (MMSI: 413289000) with a 0.94 composite suspect score, identifying a 42-minute AIS transponder blackout gap and a 6.5-knot speed drop at the reconstructed spill release point.</a:t>
            </a:r>
          </a:p>
          <a:p>
            <a:pPr>
              <a:spcAft>
                <a:spcPts val="600"/>
              </a:spcAft>
            </a:pPr>
            <a:r>
              <a:rPr sz="1050" b="1">
                <a:solidFill>
                  <a:srgbClr val="0066B2"/>
                </a:solidFill>
                <a:latin typeface="Liberation Sans"/>
              </a:rPr>
              <a:t>Enforcement Outcome
</a:t>
            </a:r>
            <a:r>
              <a:rPr sz="950">
                <a:solidFill>
                  <a:srgbClr val="1E293B"/>
                </a:solidFill>
                <a:latin typeface="Liberation Sans"/>
              </a:rPr>
              <a:t>Evidentiary dossier dispatched to Coast Guard interceptor vessel in under 90 seconds, securing legal prosecution under Indian Merchant Shipping Act 1958.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164592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  <a:latin typeface="Liberation Sans"/>
              </a:defRPr>
            </a:pPr>
            <a:r>
              <a:t>MarSlick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7432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Liberation Sans"/>
              </a:defRPr>
            </a:pPr>
            <a:r>
              <a:t>RESEARCH AND REFERENCES</a:t>
            </a:r>
          </a:p>
        </p:txBody>
      </p:sp>
      <p:pic>
        <p:nvPicPr>
          <p:cNvPr id="4" name="Picture 3" descr="sih_header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0" y="228600"/>
            <a:ext cx="2194560" cy="7772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0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Liberation Sans"/>
              </a:defRPr>
            </a:pPr>
            <a:r>
              <a:t>@SIH Idea submission - Template | Problem Statement ID: 26143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33502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13716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Synthetic Aperture Radar (SAR) Oil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European Space Agency (ESA) Sentinel-1 C-Band SAR User Guide &amp; Copernicus Open Access Hub.</a:t>
            </a:r>
            <a:br/>
            <a:r>
              <a:t>• CleanSeaNet Operational Satellite Monitoring Methodology, European Maritime Safety Agency (EMSA).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4224" y="133502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365760" cy="3657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903720" y="13716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Deep Learning Semantic Segmentation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1907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Ronneberger et al., 'U-Net: Convolutional Networks for Biomedical Image Segmentation', MICCAI.</a:t>
            </a:r>
            <a:br/>
            <a:r>
              <a:t>• Solberg et al., 'Algorithms for Oil Spill Detection in SAR Imagery', IEEE Trans. Geosci. Remote Sensing.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" y="302666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0896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3000" y="306324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Hydrodynamic &amp; Ocean Drift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1071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NOAA GNOME (General NOAA Operational Modeling Environment) Technical Suite.</a:t>
            </a:r>
            <a:br/>
            <a:r>
              <a:t>• Dagestad et al., 'OpenDrift: An open-source trajectory framework for ocean drift modeling', GMD.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64224" y="302666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297180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108960"/>
            <a:ext cx="365760" cy="3657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03720" y="306324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Meteorological &amp; Current Forcing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1071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Copernicus Marine Environment Monitoring Service (CMEMS Global Ocean Current Analysis).</a:t>
            </a:r>
            <a:br/>
            <a:r>
              <a:t>• European Centre for Medium-Range Weather Forecasts (ECMWF) ERA5 Atmospheric Wind Vectors.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471830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66344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00600"/>
            <a:ext cx="365760" cy="3657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143000" y="475488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Automatic Identification System (AIS) Standards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10235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International Telecommunication Union (ITU-R M.1371) Technical characteristics for AIS.</a:t>
            </a:r>
            <a:br/>
            <a:r>
              <a:t>• Bureau of Ocean Energy Management (BOEM) &amp; NOAA, MarineCadastre.gov National AIS Database.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4" y="4718304"/>
            <a:ext cx="5303520" cy="14630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09360" y="4663440"/>
            <a:ext cx="5303520" cy="1463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lin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800600"/>
            <a:ext cx="365760" cy="3657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903720" y="475488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D4ED8"/>
                </a:solidFill>
                <a:latin typeface="Liberation Sans"/>
              </a:defRPr>
            </a:pPr>
            <a:r>
              <a:t>Maritime Environmental Law &amp; Regulatory Frameworks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102352"/>
            <a:ext cx="4937760" cy="96012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>
              <a:defRPr sz="950">
                <a:solidFill>
                  <a:srgbClr val="1E293B"/>
                </a:solidFill>
                <a:latin typeface="Liberation Sans"/>
              </a:defRPr>
            </a:pPr>
            <a:r>
              <a:t>• IMO MARPOL 73/78 Annex I: Regulations for the Prevention of Pollution by Oil from Ships.</a:t>
            </a:r>
            <a:br/>
            <a:r>
              <a:t>• Government of India, Merchant Shipping Act 1958 (Part XIA: Prevention of Pollution of Sea by Oil).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